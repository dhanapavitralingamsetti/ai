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1695"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notesMaster" Target="notesMasters/notesMaster1.xml"/><Relationship Id="rId19" Type="http://schemas.openxmlformats.org/officeDocument/2006/relationships/presProps" Target="presProps.xml" /><Relationship Id="rId20" Type="http://schemas.openxmlformats.org/officeDocument/2006/relationships/tableStyles" Target="tableStyles.xml" /><Relationship Id="rId21"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9622025-9EED-CF16-2722-5B99CF507EED}"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7C0F9FE-4BB1-0E4B-22D6-728C9653879F}"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B974346-5F4A-939B-7D6A-8E8220631C8E}"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9281C11-ED4D-F90E-56AB-2412D0F58E33}"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2B8D0F4-9FE7-1C47-4EF5-482AD15B23E4}"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6E14583-5587-77CE-749C-C96593AB05CC}"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3B5D154-73CB-40D9-08E9-84C83F5F9690}"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1434F48-3670-FE09-B5D5-B2C8F9007D38}"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5378155-30CE-59E1-F77B-39A705D2D6A8}"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4A98DDC-72EB-5B9E-FF6B-DB2C3EB00F36}"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0BD84F0-06C3-5D9D-4DE5-E9A07BFCB727}"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DF90D63-214A-4958-6F5D-3DF9742D16D3}"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4843E2E-7F38-BF23-C907-83DB1BCFE540}"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358D162-6029-F2BA-E326-81F4FEF18880}"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804215600"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680673526"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498996153"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61796186" name="Footer Placeholder 4"/>
          <p:cNvSpPr>
            <a:spLocks noGrp="1"/>
          </p:cNvSpPr>
          <p:nvPr>
            <p:ph type="ftr" sz="quarter" idx="11"/>
          </p:nvPr>
        </p:nvSpPr>
        <p:spPr bwMode="auto"/>
        <p:txBody>
          <a:bodyPr/>
          <a:lstStyle/>
          <a:p>
            <a:pPr>
              <a:defRPr/>
            </a:pPr>
            <a:endParaRPr lang="en-US"/>
          </a:p>
        </p:txBody>
      </p:sp>
      <p:sp>
        <p:nvSpPr>
          <p:cNvPr id="1034088374"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531472423" name="Title 1"/>
          <p:cNvSpPr>
            <a:spLocks noGrp="1"/>
          </p:cNvSpPr>
          <p:nvPr>
            <p:ph type="title"/>
          </p:nvPr>
        </p:nvSpPr>
        <p:spPr bwMode="auto"/>
        <p:txBody>
          <a:bodyPr/>
          <a:lstStyle/>
          <a:p>
            <a:pPr>
              <a:defRPr/>
            </a:pPr>
            <a:r>
              <a:rPr lang="en-US"/>
              <a:t>Click to edit Master title style</a:t>
            </a:r>
            <a:endParaRPr lang="en-US"/>
          </a:p>
        </p:txBody>
      </p:sp>
      <p:sp>
        <p:nvSpPr>
          <p:cNvPr id="541201321"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8942019"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8961395" name="Footer Placeholder 4"/>
          <p:cNvSpPr>
            <a:spLocks noGrp="1"/>
          </p:cNvSpPr>
          <p:nvPr>
            <p:ph type="ftr" sz="quarter" idx="11"/>
          </p:nvPr>
        </p:nvSpPr>
        <p:spPr bwMode="auto"/>
        <p:txBody>
          <a:bodyPr/>
          <a:lstStyle/>
          <a:p>
            <a:pPr>
              <a:defRPr/>
            </a:pPr>
            <a:endParaRPr lang="en-US"/>
          </a:p>
        </p:txBody>
      </p:sp>
      <p:sp>
        <p:nvSpPr>
          <p:cNvPr id="1597475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146391614"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947095700"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747322665"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638545565" name="Footer Placeholder 4"/>
          <p:cNvSpPr>
            <a:spLocks noGrp="1"/>
          </p:cNvSpPr>
          <p:nvPr>
            <p:ph type="ftr" sz="quarter" idx="11"/>
          </p:nvPr>
        </p:nvSpPr>
        <p:spPr bwMode="auto"/>
        <p:txBody>
          <a:bodyPr/>
          <a:lstStyle/>
          <a:p>
            <a:pPr>
              <a:defRPr/>
            </a:pPr>
            <a:endParaRPr lang="en-US"/>
          </a:p>
        </p:txBody>
      </p:sp>
      <p:sp>
        <p:nvSpPr>
          <p:cNvPr id="372371758"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2105236859" name="Title 1"/>
          <p:cNvSpPr>
            <a:spLocks noGrp="1"/>
          </p:cNvSpPr>
          <p:nvPr>
            <p:ph type="title"/>
          </p:nvPr>
        </p:nvSpPr>
        <p:spPr bwMode="auto"/>
        <p:txBody>
          <a:bodyPr/>
          <a:lstStyle/>
          <a:p>
            <a:pPr>
              <a:defRPr/>
            </a:pPr>
            <a:r>
              <a:rPr lang="en-US"/>
              <a:t>Click to edit Master title style</a:t>
            </a:r>
            <a:endParaRPr lang="en-US"/>
          </a:p>
        </p:txBody>
      </p:sp>
      <p:sp>
        <p:nvSpPr>
          <p:cNvPr id="1002489269"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47780631"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35101902"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376111523" name="Footer Placeholder 5"/>
          <p:cNvSpPr>
            <a:spLocks noGrp="1"/>
          </p:cNvSpPr>
          <p:nvPr>
            <p:ph type="ftr" sz="quarter" idx="11"/>
          </p:nvPr>
        </p:nvSpPr>
        <p:spPr bwMode="auto"/>
        <p:txBody>
          <a:bodyPr/>
          <a:lstStyle/>
          <a:p>
            <a:pPr>
              <a:defRPr/>
            </a:pPr>
            <a:endParaRPr lang="en-US"/>
          </a:p>
        </p:txBody>
      </p:sp>
      <p:sp>
        <p:nvSpPr>
          <p:cNvPr id="56015187"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958815390"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782010084"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61817095"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28641334"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2071899451"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47338190"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637010059" name="Footer Placeholder 7"/>
          <p:cNvSpPr>
            <a:spLocks noGrp="1"/>
          </p:cNvSpPr>
          <p:nvPr>
            <p:ph type="ftr" sz="quarter" idx="11"/>
          </p:nvPr>
        </p:nvSpPr>
        <p:spPr bwMode="auto"/>
        <p:txBody>
          <a:bodyPr/>
          <a:lstStyle/>
          <a:p>
            <a:pPr>
              <a:defRPr/>
            </a:pPr>
            <a:endParaRPr lang="en-US"/>
          </a:p>
        </p:txBody>
      </p:sp>
      <p:sp>
        <p:nvSpPr>
          <p:cNvPr id="1261914998"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077979898" name="Title 1"/>
          <p:cNvSpPr>
            <a:spLocks noGrp="1"/>
          </p:cNvSpPr>
          <p:nvPr>
            <p:ph type="title"/>
          </p:nvPr>
        </p:nvSpPr>
        <p:spPr bwMode="auto"/>
        <p:txBody>
          <a:bodyPr/>
          <a:lstStyle/>
          <a:p>
            <a:pPr>
              <a:defRPr/>
            </a:pPr>
            <a:r>
              <a:rPr lang="en-US"/>
              <a:t>Click to edit Master title style</a:t>
            </a:r>
            <a:endParaRPr lang="en-US"/>
          </a:p>
        </p:txBody>
      </p:sp>
      <p:sp>
        <p:nvSpPr>
          <p:cNvPr id="1884196321"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50867510" name="Footer Placeholder 3"/>
          <p:cNvSpPr>
            <a:spLocks noGrp="1"/>
          </p:cNvSpPr>
          <p:nvPr>
            <p:ph type="ftr" sz="quarter" idx="11"/>
          </p:nvPr>
        </p:nvSpPr>
        <p:spPr bwMode="auto"/>
        <p:txBody>
          <a:bodyPr/>
          <a:lstStyle/>
          <a:p>
            <a:pPr>
              <a:defRPr/>
            </a:pPr>
            <a:endParaRPr lang="en-US"/>
          </a:p>
        </p:txBody>
      </p:sp>
      <p:sp>
        <p:nvSpPr>
          <p:cNvPr id="1954758152"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47276850"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939127873" name="Footer Placeholder 2"/>
          <p:cNvSpPr>
            <a:spLocks noGrp="1"/>
          </p:cNvSpPr>
          <p:nvPr>
            <p:ph type="ftr" sz="quarter" idx="11"/>
          </p:nvPr>
        </p:nvSpPr>
        <p:spPr bwMode="auto"/>
        <p:txBody>
          <a:bodyPr/>
          <a:lstStyle/>
          <a:p>
            <a:pPr>
              <a:defRPr/>
            </a:pPr>
            <a:endParaRPr lang="en-US"/>
          </a:p>
        </p:txBody>
      </p:sp>
      <p:sp>
        <p:nvSpPr>
          <p:cNvPr id="1144393953"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314298231"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2013657801"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36027819"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461043441"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891538792" name="Footer Placeholder 5"/>
          <p:cNvSpPr>
            <a:spLocks noGrp="1"/>
          </p:cNvSpPr>
          <p:nvPr>
            <p:ph type="ftr" sz="quarter" idx="11"/>
          </p:nvPr>
        </p:nvSpPr>
        <p:spPr bwMode="auto"/>
        <p:txBody>
          <a:bodyPr/>
          <a:lstStyle/>
          <a:p>
            <a:pPr>
              <a:defRPr/>
            </a:pPr>
            <a:endParaRPr lang="en-US"/>
          </a:p>
        </p:txBody>
      </p:sp>
      <p:sp>
        <p:nvSpPr>
          <p:cNvPr id="1152659859"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2113203278"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868601908"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2062682445"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772859557"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680620049" name="Footer Placeholder 5"/>
          <p:cNvSpPr>
            <a:spLocks noGrp="1"/>
          </p:cNvSpPr>
          <p:nvPr>
            <p:ph type="ftr" sz="quarter" idx="11"/>
          </p:nvPr>
        </p:nvSpPr>
        <p:spPr bwMode="auto"/>
        <p:txBody>
          <a:bodyPr/>
          <a:lstStyle/>
          <a:p>
            <a:pPr>
              <a:defRPr/>
            </a:pPr>
            <a:endParaRPr lang="en-US"/>
          </a:p>
        </p:txBody>
      </p:sp>
      <p:sp>
        <p:nvSpPr>
          <p:cNvPr id="1203539622"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343377155" name="Title 1"/>
          <p:cNvSpPr>
            <a:spLocks noGrp="1"/>
          </p:cNvSpPr>
          <p:nvPr>
            <p:ph type="title"/>
          </p:nvPr>
        </p:nvSpPr>
        <p:spPr bwMode="auto"/>
        <p:txBody>
          <a:bodyPr/>
          <a:lstStyle/>
          <a:p>
            <a:pPr>
              <a:defRPr/>
            </a:pPr>
            <a:r>
              <a:rPr lang="en-US"/>
              <a:t>Click to edit Master title style</a:t>
            </a:r>
            <a:endParaRPr lang="en-US"/>
          </a:p>
        </p:txBody>
      </p:sp>
      <p:sp>
        <p:nvSpPr>
          <p:cNvPr id="108520252"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91270417"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667508667" name="Footer Placeholder 4"/>
          <p:cNvSpPr>
            <a:spLocks noGrp="1"/>
          </p:cNvSpPr>
          <p:nvPr>
            <p:ph type="ftr" sz="quarter" idx="11"/>
          </p:nvPr>
        </p:nvSpPr>
        <p:spPr bwMode="auto"/>
        <p:txBody>
          <a:bodyPr/>
          <a:lstStyle/>
          <a:p>
            <a:pPr>
              <a:defRPr/>
            </a:pPr>
            <a:endParaRPr lang="en-US"/>
          </a:p>
        </p:txBody>
      </p:sp>
      <p:sp>
        <p:nvSpPr>
          <p:cNvPr id="574567490"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2078110606"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339230808"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77917015"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017389196" name="Footer Placeholder 4"/>
          <p:cNvSpPr>
            <a:spLocks noGrp="1"/>
          </p:cNvSpPr>
          <p:nvPr>
            <p:ph type="ftr" sz="quarter" idx="11"/>
          </p:nvPr>
        </p:nvSpPr>
        <p:spPr bwMode="auto"/>
        <p:txBody>
          <a:bodyPr/>
          <a:lstStyle/>
          <a:p>
            <a:pPr>
              <a:defRPr/>
            </a:pPr>
            <a:endParaRPr lang="en-US"/>
          </a:p>
        </p:txBody>
      </p:sp>
      <p:sp>
        <p:nvSpPr>
          <p:cNvPr id="1429565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766886959"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2043556938"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58332190"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984060490"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2079572744"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894072441" name="Rectangle 1"/>
          <p:cNvSpPr/>
          <p:nvPr/>
        </p:nvSpPr>
        <p:spPr bwMode="auto">
          <a:xfrm>
            <a:off x="438912" y="256032"/>
            <a:ext cx="3703320" cy="91440"/>
          </a:xfrm>
          <a:prstGeom prst="rect">
            <a:avLst/>
          </a:prstGeom>
          <a:solidFill>
            <a:srgbClr val="435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79574464" name="Rectangle 2"/>
          <p:cNvSpPr/>
          <p:nvPr/>
        </p:nvSpPr>
        <p:spPr bwMode="auto">
          <a:xfrm>
            <a:off x="4224528" y="256032"/>
            <a:ext cx="3703320" cy="91440"/>
          </a:xfrm>
          <a:prstGeom prst="rect">
            <a:avLst/>
          </a:prstGeom>
          <a:solidFill>
            <a:srgbClr val="20A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76735356" name="Rectangle 3"/>
          <p:cNvSpPr/>
          <p:nvPr/>
        </p:nvSpPr>
        <p:spPr bwMode="auto">
          <a:xfrm>
            <a:off x="8010144" y="256032"/>
            <a:ext cx="3703320" cy="91440"/>
          </a:xfrm>
          <a:prstGeom prst="rect">
            <a:avLst/>
          </a:prstGeom>
          <a:solidFill>
            <a:srgbClr val="97A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19355231" name="TextBox 4"/>
          <p:cNvSpPr txBox="1"/>
          <p:nvPr/>
        </p:nvSpPr>
        <p:spPr bwMode="auto">
          <a:xfrm>
            <a:off x="914400" y="960120"/>
            <a:ext cx="10332720" cy="457200"/>
          </a:xfrm>
          <a:prstGeom prst="rect">
            <a:avLst/>
          </a:prstGeom>
          <a:noFill/>
        </p:spPr>
        <p:txBody>
          <a:bodyPr wrap="square" lIns="27432" tIns="18288" rIns="27432" bIns="18288">
            <a:spAutoFit/>
          </a:bodyPr>
          <a:lstStyle/>
          <a:p>
            <a:pPr algn="ctr">
              <a:spcAft>
                <a:spcPts val="700"/>
              </a:spcAft>
              <a:defRPr sz="2100" b="1">
                <a:solidFill>
                  <a:srgbClr val="20A9D3"/>
                </a:solidFill>
                <a:latin typeface="Aptos"/>
              </a:defRPr>
            </a:pPr>
            <a:r>
              <a:rPr/>
              <a:t>IBM AICTE PROJECT</a:t>
            </a:r>
            <a:endParaRPr/>
          </a:p>
        </p:txBody>
      </p:sp>
      <p:sp>
        <p:nvSpPr>
          <p:cNvPr id="84627118" name="TextBox 5"/>
          <p:cNvSpPr txBox="1"/>
          <p:nvPr/>
        </p:nvSpPr>
        <p:spPr bwMode="auto">
          <a:xfrm>
            <a:off x="822960" y="1645920"/>
            <a:ext cx="10515600" cy="822960"/>
          </a:xfrm>
          <a:prstGeom prst="rect">
            <a:avLst/>
          </a:prstGeom>
          <a:noFill/>
        </p:spPr>
        <p:txBody>
          <a:bodyPr wrap="square" lIns="27432" tIns="18288" rIns="27432" bIns="18288">
            <a:spAutoFit/>
          </a:bodyPr>
          <a:lstStyle/>
          <a:p>
            <a:pPr algn="ctr">
              <a:spcAft>
                <a:spcPts val="700"/>
              </a:spcAft>
              <a:defRPr sz="3200" b="1">
                <a:solidFill>
                  <a:srgbClr val="20A9D3"/>
                </a:solidFill>
                <a:latin typeface="Aptos"/>
              </a:defRPr>
            </a:pPr>
            <a:r>
              <a:rPr/>
              <a:t>AI AGENT FOR DIGITAL FINANCIAL LITERACY</a:t>
            </a:r>
            <a:endParaRPr/>
          </a:p>
        </p:txBody>
      </p:sp>
      <p:sp>
        <p:nvSpPr>
          <p:cNvPr id="247552590" name="TextBox 6"/>
          <p:cNvSpPr txBox="1"/>
          <p:nvPr/>
        </p:nvSpPr>
        <p:spPr bwMode="auto">
          <a:xfrm>
            <a:off x="1188720" y="2788920"/>
            <a:ext cx="9784079" cy="320040"/>
          </a:xfrm>
          <a:prstGeom prst="rect">
            <a:avLst/>
          </a:prstGeom>
          <a:noFill/>
        </p:spPr>
        <p:txBody>
          <a:bodyPr wrap="square" lIns="27432" tIns="18288" rIns="27432" bIns="18288">
            <a:spAutoFit/>
          </a:bodyPr>
          <a:lstStyle/>
          <a:p>
            <a:pPr algn="ctr">
              <a:spcAft>
                <a:spcPts val="700"/>
              </a:spcAft>
              <a:defRPr sz="1700" b="1">
                <a:solidFill>
                  <a:srgbClr val="435157"/>
                </a:solidFill>
                <a:latin typeface="Aptos"/>
              </a:defRPr>
            </a:pPr>
            <a:r>
              <a:rPr/>
              <a:t>Presented By:</a:t>
            </a:r>
            <a:endParaRPr/>
          </a:p>
        </p:txBody>
      </p:sp>
      <p:sp>
        <p:nvSpPr>
          <p:cNvPr id="645984934" name="TextBox 7"/>
          <p:cNvSpPr txBox="1"/>
          <p:nvPr/>
        </p:nvSpPr>
        <p:spPr bwMode="auto">
          <a:xfrm>
            <a:off x="1188720" y="3154680"/>
            <a:ext cx="9784079" cy="411480"/>
          </a:xfrm>
          <a:prstGeom prst="rect">
            <a:avLst/>
          </a:prstGeom>
          <a:noFill/>
        </p:spPr>
        <p:txBody>
          <a:bodyPr wrap="square" lIns="27432" tIns="18288" rIns="27432" bIns="18288">
            <a:spAutoFit/>
          </a:bodyPr>
          <a:lstStyle/>
          <a:p>
            <a:pPr algn="ctr">
              <a:spcAft>
                <a:spcPts val="700"/>
              </a:spcAft>
              <a:defRPr sz="2300" b="1">
                <a:solidFill>
                  <a:srgbClr val="283036"/>
                </a:solidFill>
                <a:latin typeface="Aptos"/>
              </a:defRPr>
            </a:pPr>
            <a:r>
              <a:rPr/>
              <a:t>Lingamsetti Dhana Pavitra</a:t>
            </a:r>
            <a:endParaRPr/>
          </a:p>
        </p:txBody>
      </p:sp>
      <p:sp>
        <p:nvSpPr>
          <p:cNvPr id="360344195" name="TextBox 8"/>
          <p:cNvSpPr txBox="1"/>
          <p:nvPr/>
        </p:nvSpPr>
        <p:spPr bwMode="auto">
          <a:xfrm>
            <a:off x="1188720" y="3657600"/>
            <a:ext cx="9784079" cy="365760"/>
          </a:xfrm>
          <a:prstGeom prst="rect">
            <a:avLst/>
          </a:prstGeom>
          <a:noFill/>
        </p:spPr>
        <p:txBody>
          <a:bodyPr wrap="square" lIns="27432" tIns="18288" rIns="27432" bIns="18288">
            <a:spAutoFit/>
          </a:bodyPr>
          <a:lstStyle/>
          <a:p>
            <a:pPr algn="ctr">
              <a:spcAft>
                <a:spcPts val="700"/>
              </a:spcAft>
              <a:defRPr sz="1800" b="0">
                <a:solidFill>
                  <a:srgbClr val="283036"/>
                </a:solidFill>
                <a:latin typeface="Aptos"/>
              </a:defRPr>
            </a:pPr>
            <a:r>
              <a:rPr/>
              <a:t>M.Tech (Artificial Intelligence)</a:t>
            </a:r>
            <a:endParaRPr/>
          </a:p>
        </p:txBody>
      </p:sp>
      <p:sp>
        <p:nvSpPr>
          <p:cNvPr id="373382378" name="TextBox 9"/>
          <p:cNvSpPr txBox="1"/>
          <p:nvPr/>
        </p:nvSpPr>
        <p:spPr bwMode="auto">
          <a:xfrm>
            <a:off x="1188720" y="4041648"/>
            <a:ext cx="9784079" cy="365760"/>
          </a:xfrm>
          <a:prstGeom prst="rect">
            <a:avLst/>
          </a:prstGeom>
          <a:noFill/>
        </p:spPr>
        <p:txBody>
          <a:bodyPr wrap="square" lIns="27432" tIns="18288" rIns="27432" bIns="18288">
            <a:spAutoFit/>
          </a:bodyPr>
          <a:lstStyle/>
          <a:p>
            <a:pPr algn="ctr">
              <a:spcAft>
                <a:spcPts val="700"/>
              </a:spcAft>
              <a:defRPr sz="1800" b="0">
                <a:solidFill>
                  <a:srgbClr val="283036"/>
                </a:solidFill>
                <a:latin typeface="Aptos"/>
              </a:defRPr>
            </a:pPr>
            <a:r>
              <a:rPr/>
              <a:t>ISTS Women’s Engineering College</a:t>
            </a:r>
            <a:endParaRPr/>
          </a:p>
        </p:txBody>
      </p:sp>
      <p:sp>
        <p:nvSpPr>
          <p:cNvPr id="136187947" name="TextBox 10"/>
          <p:cNvSpPr txBox="1"/>
          <p:nvPr/>
        </p:nvSpPr>
        <p:spPr bwMode="auto">
          <a:xfrm>
            <a:off x="1188720" y="5806440"/>
            <a:ext cx="9784079" cy="320040"/>
          </a:xfrm>
          <a:prstGeom prst="rect">
            <a:avLst/>
          </a:prstGeom>
          <a:noFill/>
        </p:spPr>
        <p:txBody>
          <a:bodyPr wrap="square" lIns="27432" tIns="18288" rIns="27432" bIns="18288">
            <a:spAutoFit/>
          </a:bodyPr>
          <a:lstStyle/>
          <a:p>
            <a:pPr algn="ctr">
              <a:spcAft>
                <a:spcPts val="700"/>
              </a:spcAft>
              <a:defRPr sz="1400" b="0">
                <a:solidFill>
                  <a:srgbClr val="97A0A6"/>
                </a:solidFill>
                <a:latin typeface="Aptos"/>
              </a:defRPr>
            </a:pPr>
            <a:r>
              <a:rPr/>
              <a:t>Digital access • Financial awareness • Trusted guidance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92606262" name="Rectangle 1"/>
          <p:cNvSpPr/>
          <p:nvPr/>
        </p:nvSpPr>
        <p:spPr bwMode="auto">
          <a:xfrm>
            <a:off x="438912" y="256032"/>
            <a:ext cx="3703320" cy="91440"/>
          </a:xfrm>
          <a:prstGeom prst="rect">
            <a:avLst/>
          </a:prstGeom>
          <a:solidFill>
            <a:srgbClr val="435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29530700" name="Rectangle 2"/>
          <p:cNvSpPr/>
          <p:nvPr/>
        </p:nvSpPr>
        <p:spPr bwMode="auto">
          <a:xfrm>
            <a:off x="4224528" y="256032"/>
            <a:ext cx="3703320" cy="91440"/>
          </a:xfrm>
          <a:prstGeom prst="rect">
            <a:avLst/>
          </a:prstGeom>
          <a:solidFill>
            <a:srgbClr val="20A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03303953" name="Rectangle 3"/>
          <p:cNvSpPr/>
          <p:nvPr/>
        </p:nvSpPr>
        <p:spPr bwMode="auto">
          <a:xfrm>
            <a:off x="8010144" y="256032"/>
            <a:ext cx="3703320" cy="91440"/>
          </a:xfrm>
          <a:prstGeom prst="rect">
            <a:avLst/>
          </a:prstGeom>
          <a:solidFill>
            <a:srgbClr val="97A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67530347" name="TextBox 4"/>
          <p:cNvSpPr txBox="1"/>
          <p:nvPr/>
        </p:nvSpPr>
        <p:spPr bwMode="auto">
          <a:xfrm>
            <a:off x="658368" y="566928"/>
            <a:ext cx="10881360" cy="594360"/>
          </a:xfrm>
          <a:prstGeom prst="rect">
            <a:avLst/>
          </a:prstGeom>
          <a:noFill/>
        </p:spPr>
        <p:txBody>
          <a:bodyPr wrap="square" lIns="27432" tIns="18288" rIns="27432" bIns="18288">
            <a:spAutoFit/>
          </a:bodyPr>
          <a:lstStyle/>
          <a:p>
            <a:pPr algn="l">
              <a:spcAft>
                <a:spcPts val="700"/>
              </a:spcAft>
              <a:defRPr sz="2700" b="0">
                <a:solidFill>
                  <a:srgbClr val="20A9D3"/>
                </a:solidFill>
                <a:latin typeface="Aptos"/>
              </a:defRPr>
            </a:pPr>
            <a:r>
              <a:rPr/>
              <a:t>OUTLINE</a:t>
            </a:r>
            <a:endParaRPr/>
          </a:p>
        </p:txBody>
      </p:sp>
      <p:sp>
        <p:nvSpPr>
          <p:cNvPr id="1316118458" name="TextBox 5"/>
          <p:cNvSpPr txBox="1"/>
          <p:nvPr/>
        </p:nvSpPr>
        <p:spPr bwMode="auto">
          <a:xfrm>
            <a:off x="749808" y="1417320"/>
            <a:ext cx="10789920" cy="4846320"/>
          </a:xfrm>
          <a:prstGeom prst="rect">
            <a:avLst/>
          </a:prstGeom>
          <a:noFill/>
        </p:spPr>
        <p:txBody>
          <a:bodyPr wrap="square" lIns="45720" rIns="45720">
            <a:spAutoFit/>
          </a:bodyPr>
          <a:lstStyle/>
          <a:p>
            <a:pPr>
              <a:spcAft>
                <a:spcPts val="1200"/>
              </a:spcAft>
              <a:defRPr sz="2000">
                <a:solidFill>
                  <a:srgbClr val="283036"/>
                </a:solidFill>
                <a:latin typeface="Aptos"/>
              </a:defRPr>
            </a:pPr>
            <a:r>
              <a:rPr/>
              <a:t>▪  Problem Statement</a:t>
            </a:r>
            <a:endParaRPr/>
          </a:p>
          <a:p>
            <a:pPr>
              <a:spcAft>
                <a:spcPts val="1200"/>
              </a:spcAft>
              <a:defRPr sz="2000">
                <a:solidFill>
                  <a:srgbClr val="283036"/>
                </a:solidFill>
                <a:latin typeface="Aptos"/>
              </a:defRPr>
            </a:pPr>
            <a:r>
              <a:rPr/>
              <a:t>▪  Technology Used</a:t>
            </a:r>
            <a:endParaRPr/>
          </a:p>
          <a:p>
            <a:pPr>
              <a:spcAft>
                <a:spcPts val="1200"/>
              </a:spcAft>
              <a:defRPr sz="2000">
                <a:solidFill>
                  <a:srgbClr val="283036"/>
                </a:solidFill>
                <a:latin typeface="Aptos"/>
              </a:defRPr>
            </a:pPr>
            <a:r>
              <a:rPr/>
              <a:t>▪  IBM Cloud Services Used</a:t>
            </a:r>
            <a:endParaRPr/>
          </a:p>
          <a:p>
            <a:pPr>
              <a:spcAft>
                <a:spcPts val="1200"/>
              </a:spcAft>
              <a:defRPr sz="2000">
                <a:solidFill>
                  <a:srgbClr val="283036"/>
                </a:solidFill>
                <a:latin typeface="Aptos"/>
              </a:defRPr>
            </a:pPr>
            <a:r>
              <a:rPr/>
              <a:t>▪  Wow Factor</a:t>
            </a:r>
            <a:endParaRPr/>
          </a:p>
          <a:p>
            <a:pPr>
              <a:spcAft>
                <a:spcPts val="1200"/>
              </a:spcAft>
              <a:defRPr sz="2000">
                <a:solidFill>
                  <a:srgbClr val="283036"/>
                </a:solidFill>
                <a:latin typeface="Aptos"/>
              </a:defRPr>
            </a:pPr>
            <a:r>
              <a:rPr/>
              <a:t>▪  End Users</a:t>
            </a:r>
            <a:endParaRPr/>
          </a:p>
          <a:p>
            <a:pPr>
              <a:spcAft>
                <a:spcPts val="1200"/>
              </a:spcAft>
              <a:defRPr sz="2000">
                <a:solidFill>
                  <a:srgbClr val="283036"/>
                </a:solidFill>
                <a:latin typeface="Aptos"/>
              </a:defRPr>
            </a:pPr>
            <a:r>
              <a:rPr/>
              <a:t>▪  Results</a:t>
            </a:r>
            <a:endParaRPr/>
          </a:p>
          <a:p>
            <a:pPr>
              <a:spcAft>
                <a:spcPts val="1200"/>
              </a:spcAft>
              <a:defRPr sz="2000">
                <a:solidFill>
                  <a:srgbClr val="283036"/>
                </a:solidFill>
                <a:latin typeface="Aptos"/>
              </a:defRPr>
            </a:pPr>
            <a:r>
              <a:rPr/>
              <a:t>▪  Conclusion</a:t>
            </a:r>
            <a:endParaRPr/>
          </a:p>
          <a:p>
            <a:pPr>
              <a:spcAft>
                <a:spcPts val="1200"/>
              </a:spcAft>
              <a:defRPr sz="2000">
                <a:solidFill>
                  <a:srgbClr val="283036"/>
                </a:solidFill>
                <a:latin typeface="Aptos"/>
              </a:defRPr>
            </a:pPr>
            <a:r>
              <a:rPr/>
              <a:t>▪  GitHub Link</a:t>
            </a:r>
            <a:endParaRPr/>
          </a:p>
          <a:p>
            <a:pPr>
              <a:spcAft>
                <a:spcPts val="1200"/>
              </a:spcAft>
              <a:defRPr sz="2000">
                <a:solidFill>
                  <a:srgbClr val="283036"/>
                </a:solidFill>
                <a:latin typeface="Aptos"/>
              </a:defRPr>
            </a:pPr>
            <a:r>
              <a:rPr/>
              <a:t>▪  Future Scope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487932527" name="Rectangle 1"/>
          <p:cNvSpPr/>
          <p:nvPr/>
        </p:nvSpPr>
        <p:spPr bwMode="auto">
          <a:xfrm>
            <a:off x="438912" y="256032"/>
            <a:ext cx="3703320" cy="91440"/>
          </a:xfrm>
          <a:prstGeom prst="rect">
            <a:avLst/>
          </a:prstGeom>
          <a:solidFill>
            <a:srgbClr val="435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56104685" name="Rectangle 2"/>
          <p:cNvSpPr/>
          <p:nvPr/>
        </p:nvSpPr>
        <p:spPr bwMode="auto">
          <a:xfrm>
            <a:off x="4224528" y="256032"/>
            <a:ext cx="3703320" cy="91440"/>
          </a:xfrm>
          <a:prstGeom prst="rect">
            <a:avLst/>
          </a:prstGeom>
          <a:solidFill>
            <a:srgbClr val="20A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05187119" name="Rectangle 3"/>
          <p:cNvSpPr/>
          <p:nvPr/>
        </p:nvSpPr>
        <p:spPr bwMode="auto">
          <a:xfrm>
            <a:off x="8010144" y="256032"/>
            <a:ext cx="3703320" cy="91440"/>
          </a:xfrm>
          <a:prstGeom prst="rect">
            <a:avLst/>
          </a:prstGeom>
          <a:solidFill>
            <a:srgbClr val="97A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05417100" name="TextBox 4"/>
          <p:cNvSpPr txBox="1"/>
          <p:nvPr/>
        </p:nvSpPr>
        <p:spPr bwMode="auto">
          <a:xfrm>
            <a:off x="658368" y="566928"/>
            <a:ext cx="10881360" cy="594360"/>
          </a:xfrm>
          <a:prstGeom prst="rect">
            <a:avLst/>
          </a:prstGeom>
          <a:noFill/>
        </p:spPr>
        <p:txBody>
          <a:bodyPr wrap="square" lIns="27432" tIns="18288" rIns="27432" bIns="18288">
            <a:spAutoFit/>
          </a:bodyPr>
          <a:lstStyle/>
          <a:p>
            <a:pPr algn="l">
              <a:spcAft>
                <a:spcPts val="700"/>
              </a:spcAft>
              <a:defRPr sz="2700" b="0">
                <a:solidFill>
                  <a:srgbClr val="20A9D3"/>
                </a:solidFill>
                <a:latin typeface="Aptos"/>
              </a:defRPr>
            </a:pPr>
            <a:r>
              <a:rPr/>
              <a:t>PROBLEM STATEMENT</a:t>
            </a:r>
            <a:endParaRPr/>
          </a:p>
        </p:txBody>
      </p:sp>
      <p:sp>
        <p:nvSpPr>
          <p:cNvPr id="1311126478" name="Rounded Rectangle 5"/>
          <p:cNvSpPr/>
          <p:nvPr/>
        </p:nvSpPr>
        <p:spPr bwMode="auto">
          <a:xfrm>
            <a:off x="731520" y="1463040"/>
            <a:ext cx="5212080" cy="4389120"/>
          </a:xfrm>
          <a:prstGeom prst="roundRect">
            <a:avLst>
              <a:gd name="adj" fmla="val 16667"/>
            </a:avLst>
          </a:prstGeom>
          <a:solidFill>
            <a:srgbClr val="F5F9FB"/>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58104412" name="TextBox 6"/>
          <p:cNvSpPr txBox="1"/>
          <p:nvPr/>
        </p:nvSpPr>
        <p:spPr bwMode="auto">
          <a:xfrm>
            <a:off x="932688" y="1600200"/>
            <a:ext cx="4809744" cy="365760"/>
          </a:xfrm>
          <a:prstGeom prst="rect">
            <a:avLst/>
          </a:prstGeom>
          <a:noFill/>
        </p:spPr>
        <p:txBody>
          <a:bodyPr wrap="square" lIns="27432" tIns="18288" rIns="27432" bIns="18288">
            <a:spAutoFit/>
          </a:bodyPr>
          <a:lstStyle/>
          <a:p>
            <a:pPr algn="l">
              <a:spcAft>
                <a:spcPts val="700"/>
              </a:spcAft>
              <a:defRPr sz="1700" b="1">
                <a:solidFill>
                  <a:srgbClr val="20A9D3"/>
                </a:solidFill>
                <a:latin typeface="Aptos"/>
              </a:defRPr>
            </a:pPr>
            <a:r>
              <a:rPr/>
              <a:t>Problem</a:t>
            </a:r>
            <a:endParaRPr/>
          </a:p>
        </p:txBody>
      </p:sp>
      <p:sp>
        <p:nvSpPr>
          <p:cNvPr id="638969290" name="TextBox 7"/>
          <p:cNvSpPr txBox="1"/>
          <p:nvPr/>
        </p:nvSpPr>
        <p:spPr bwMode="auto">
          <a:xfrm>
            <a:off x="932688" y="2057400"/>
            <a:ext cx="4809744" cy="3675887"/>
          </a:xfrm>
          <a:prstGeom prst="rect">
            <a:avLst/>
          </a:prstGeom>
          <a:noFill/>
        </p:spPr>
        <p:txBody>
          <a:bodyPr wrap="square" lIns="27432" tIns="18288" rIns="27432" bIns="18288">
            <a:spAutoFit/>
          </a:bodyPr>
          <a:lstStyle/>
          <a:p>
            <a:pPr algn="l">
              <a:spcAft>
                <a:spcPts val="700"/>
              </a:spcAft>
              <a:defRPr sz="1500" b="0">
                <a:solidFill>
                  <a:srgbClr val="283036"/>
                </a:solidFill>
                <a:latin typeface="Aptos"/>
              </a:defRPr>
            </a:pPr>
            <a:r>
              <a:rPr/>
              <a:t>Many individuals, especially in rural or digitally underserved communities, face challenges understanding UPI, online banking, loan procedures, and scam prevention. Limited awareness can lead to financial mismanagement, fraud risks, and exclusion from government schemes.</a:t>
            </a:r>
            <a:endParaRPr/>
          </a:p>
        </p:txBody>
      </p:sp>
      <p:sp>
        <p:nvSpPr>
          <p:cNvPr id="1788027999" name="Rounded Rectangle 8"/>
          <p:cNvSpPr/>
          <p:nvPr/>
        </p:nvSpPr>
        <p:spPr bwMode="auto">
          <a:xfrm>
            <a:off x="6217920" y="1463040"/>
            <a:ext cx="5212080" cy="4389120"/>
          </a:xfrm>
          <a:prstGeom prst="roundRect">
            <a:avLst>
              <a:gd name="adj" fmla="val 16667"/>
            </a:avLst>
          </a:prstGeom>
          <a:solidFill>
            <a:srgbClr val="F5F9FB"/>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28370911" name="TextBox 9"/>
          <p:cNvSpPr txBox="1"/>
          <p:nvPr/>
        </p:nvSpPr>
        <p:spPr bwMode="auto">
          <a:xfrm>
            <a:off x="6419088" y="1600200"/>
            <a:ext cx="4809744" cy="365760"/>
          </a:xfrm>
          <a:prstGeom prst="rect">
            <a:avLst/>
          </a:prstGeom>
          <a:noFill/>
        </p:spPr>
        <p:txBody>
          <a:bodyPr wrap="square" lIns="27432" tIns="18288" rIns="27432" bIns="18288">
            <a:spAutoFit/>
          </a:bodyPr>
          <a:lstStyle/>
          <a:p>
            <a:pPr algn="l">
              <a:spcAft>
                <a:spcPts val="700"/>
              </a:spcAft>
              <a:defRPr sz="1700" b="1">
                <a:solidFill>
                  <a:srgbClr val="20A9D3"/>
                </a:solidFill>
                <a:latin typeface="Aptos"/>
              </a:defRPr>
            </a:pPr>
            <a:r>
              <a:rPr/>
              <a:t>Proposed Solution</a:t>
            </a:r>
            <a:endParaRPr/>
          </a:p>
        </p:txBody>
      </p:sp>
      <p:sp>
        <p:nvSpPr>
          <p:cNvPr id="1062169958" name="TextBox 10"/>
          <p:cNvSpPr txBox="1"/>
          <p:nvPr/>
        </p:nvSpPr>
        <p:spPr bwMode="auto">
          <a:xfrm>
            <a:off x="6419088" y="2057400"/>
            <a:ext cx="4809744" cy="3675887"/>
          </a:xfrm>
          <a:prstGeom prst="rect">
            <a:avLst/>
          </a:prstGeom>
          <a:noFill/>
        </p:spPr>
        <p:txBody>
          <a:bodyPr wrap="square" lIns="27432" tIns="18288" rIns="27432" bIns="18288">
            <a:spAutoFit/>
          </a:bodyPr>
          <a:lstStyle/>
          <a:p>
            <a:pPr algn="l">
              <a:spcAft>
                <a:spcPts val="700"/>
              </a:spcAft>
              <a:defRPr sz="1500" b="0">
                <a:solidFill>
                  <a:srgbClr val="283036"/>
                </a:solidFill>
                <a:latin typeface="Aptos"/>
              </a:defRPr>
            </a:pPr>
            <a:r>
              <a:rPr/>
              <a:t>An AI-powered Financial Literacy Agent using NLP and Retrieval-Augmented Generation (RAG) to explain digital transactions, budgeting, loans, and scam prevention with responses grounded in trusted documents.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36179626" name="Rectangle 1"/>
          <p:cNvSpPr/>
          <p:nvPr/>
        </p:nvSpPr>
        <p:spPr bwMode="auto">
          <a:xfrm>
            <a:off x="438912" y="256032"/>
            <a:ext cx="3703320" cy="91440"/>
          </a:xfrm>
          <a:prstGeom prst="rect">
            <a:avLst/>
          </a:prstGeom>
          <a:solidFill>
            <a:srgbClr val="435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50444541" name="Rectangle 2"/>
          <p:cNvSpPr/>
          <p:nvPr/>
        </p:nvSpPr>
        <p:spPr bwMode="auto">
          <a:xfrm>
            <a:off x="4224528" y="256032"/>
            <a:ext cx="3703320" cy="91440"/>
          </a:xfrm>
          <a:prstGeom prst="rect">
            <a:avLst/>
          </a:prstGeom>
          <a:solidFill>
            <a:srgbClr val="20A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7998182" name="Rectangle 3"/>
          <p:cNvSpPr/>
          <p:nvPr/>
        </p:nvSpPr>
        <p:spPr bwMode="auto">
          <a:xfrm>
            <a:off x="8010144" y="256032"/>
            <a:ext cx="3703320" cy="91440"/>
          </a:xfrm>
          <a:prstGeom prst="rect">
            <a:avLst/>
          </a:prstGeom>
          <a:solidFill>
            <a:srgbClr val="97A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17104786" name="TextBox 4"/>
          <p:cNvSpPr txBox="1"/>
          <p:nvPr/>
        </p:nvSpPr>
        <p:spPr bwMode="auto">
          <a:xfrm>
            <a:off x="658368" y="566928"/>
            <a:ext cx="10881360" cy="594360"/>
          </a:xfrm>
          <a:prstGeom prst="rect">
            <a:avLst/>
          </a:prstGeom>
          <a:noFill/>
        </p:spPr>
        <p:txBody>
          <a:bodyPr wrap="square" lIns="27432" tIns="18288" rIns="27432" bIns="18288">
            <a:spAutoFit/>
          </a:bodyPr>
          <a:lstStyle/>
          <a:p>
            <a:pPr algn="l">
              <a:spcAft>
                <a:spcPts val="700"/>
              </a:spcAft>
              <a:defRPr sz="2700" b="0">
                <a:solidFill>
                  <a:srgbClr val="20A9D3"/>
                </a:solidFill>
                <a:latin typeface="Aptos"/>
              </a:defRPr>
            </a:pPr>
            <a:r>
              <a:rPr/>
              <a:t>TECHNOLOGY USED</a:t>
            </a:r>
            <a:endParaRPr/>
          </a:p>
        </p:txBody>
      </p:sp>
      <p:sp>
        <p:nvSpPr>
          <p:cNvPr id="1665045319" name="TextBox 5"/>
          <p:cNvSpPr txBox="1"/>
          <p:nvPr/>
        </p:nvSpPr>
        <p:spPr bwMode="auto">
          <a:xfrm>
            <a:off x="749808" y="1417320"/>
            <a:ext cx="10789920" cy="4846320"/>
          </a:xfrm>
          <a:prstGeom prst="rect">
            <a:avLst/>
          </a:prstGeom>
          <a:noFill/>
        </p:spPr>
        <p:txBody>
          <a:bodyPr wrap="square" lIns="45720" rIns="45720">
            <a:spAutoFit/>
          </a:bodyPr>
          <a:lstStyle/>
          <a:p>
            <a:pPr>
              <a:spcAft>
                <a:spcPts val="1200"/>
              </a:spcAft>
              <a:defRPr sz="2100">
                <a:solidFill>
                  <a:srgbClr val="283036"/>
                </a:solidFill>
                <a:latin typeface="Aptos"/>
              </a:defRPr>
            </a:pPr>
            <a:r>
              <a:rPr/>
              <a:t>▪  IBM Cloud Lite Services</a:t>
            </a:r>
            <a:endParaRPr/>
          </a:p>
          <a:p>
            <a:pPr>
              <a:spcAft>
                <a:spcPts val="1200"/>
              </a:spcAft>
              <a:defRPr sz="2100">
                <a:solidFill>
                  <a:srgbClr val="283036"/>
                </a:solidFill>
                <a:latin typeface="Aptos"/>
              </a:defRPr>
            </a:pPr>
            <a:r>
              <a:rPr/>
              <a:t>▪  IBM watsonx.ai Studio</a:t>
            </a:r>
            <a:endParaRPr/>
          </a:p>
          <a:p>
            <a:pPr>
              <a:spcAft>
                <a:spcPts val="1200"/>
              </a:spcAft>
              <a:defRPr sz="2100">
                <a:solidFill>
                  <a:srgbClr val="283036"/>
                </a:solidFill>
                <a:latin typeface="Aptos"/>
              </a:defRPr>
            </a:pPr>
            <a:r>
              <a:rPr/>
              <a:t>▪  IBM Granite Foundation Model (LLM)</a:t>
            </a:r>
            <a:endParaRPr/>
          </a:p>
          <a:p>
            <a:pPr>
              <a:spcAft>
                <a:spcPts val="1200"/>
              </a:spcAft>
              <a:defRPr sz="2100">
                <a:solidFill>
                  <a:srgbClr val="283036"/>
                </a:solidFill>
                <a:latin typeface="Aptos"/>
              </a:defRPr>
            </a:pPr>
            <a:r>
              <a:rPr/>
              <a:t>▪  Natural Language Processing (NLP)</a:t>
            </a:r>
            <a:endParaRPr/>
          </a:p>
          <a:p>
            <a:pPr>
              <a:spcAft>
                <a:spcPts val="1200"/>
              </a:spcAft>
              <a:defRPr sz="2100">
                <a:solidFill>
                  <a:srgbClr val="283036"/>
                </a:solidFill>
                <a:latin typeface="Aptos"/>
              </a:defRPr>
            </a:pPr>
            <a:r>
              <a:rPr/>
              <a:t>▪  IBM Watson Discovery — document search and retrieval</a:t>
            </a:r>
            <a:endParaRPr/>
          </a:p>
          <a:p>
            <a:pPr>
              <a:spcAft>
                <a:spcPts val="1200"/>
              </a:spcAft>
              <a:defRPr sz="2100">
                <a:solidFill>
                  <a:srgbClr val="283036"/>
                </a:solidFill>
                <a:latin typeface="Aptos"/>
              </a:defRPr>
            </a:pPr>
            <a:r>
              <a:rPr/>
              <a:t>▪  Retrieval-Augmented Generation (RAG)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722928586" name="Rectangle 1"/>
          <p:cNvSpPr/>
          <p:nvPr/>
        </p:nvSpPr>
        <p:spPr bwMode="auto">
          <a:xfrm>
            <a:off x="438912" y="256032"/>
            <a:ext cx="3703320" cy="91440"/>
          </a:xfrm>
          <a:prstGeom prst="rect">
            <a:avLst/>
          </a:prstGeom>
          <a:solidFill>
            <a:srgbClr val="435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76156102" name="Rectangle 2"/>
          <p:cNvSpPr/>
          <p:nvPr/>
        </p:nvSpPr>
        <p:spPr bwMode="auto">
          <a:xfrm>
            <a:off x="4224528" y="256032"/>
            <a:ext cx="3703320" cy="91440"/>
          </a:xfrm>
          <a:prstGeom prst="rect">
            <a:avLst/>
          </a:prstGeom>
          <a:solidFill>
            <a:srgbClr val="20A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47513600" name="Rectangle 3"/>
          <p:cNvSpPr/>
          <p:nvPr/>
        </p:nvSpPr>
        <p:spPr bwMode="auto">
          <a:xfrm>
            <a:off x="8010144" y="256032"/>
            <a:ext cx="3703320" cy="91440"/>
          </a:xfrm>
          <a:prstGeom prst="rect">
            <a:avLst/>
          </a:prstGeom>
          <a:solidFill>
            <a:srgbClr val="97A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88561687" name="TextBox 4"/>
          <p:cNvSpPr txBox="1"/>
          <p:nvPr/>
        </p:nvSpPr>
        <p:spPr bwMode="auto">
          <a:xfrm>
            <a:off x="658368" y="566928"/>
            <a:ext cx="10881360" cy="594360"/>
          </a:xfrm>
          <a:prstGeom prst="rect">
            <a:avLst/>
          </a:prstGeom>
          <a:noFill/>
        </p:spPr>
        <p:txBody>
          <a:bodyPr wrap="square" lIns="27432" tIns="18288" rIns="27432" bIns="18288">
            <a:spAutoFit/>
          </a:bodyPr>
          <a:lstStyle/>
          <a:p>
            <a:pPr algn="l">
              <a:spcAft>
                <a:spcPts val="700"/>
              </a:spcAft>
              <a:defRPr sz="2700" b="0">
                <a:solidFill>
                  <a:srgbClr val="20A9D3"/>
                </a:solidFill>
                <a:latin typeface="Aptos"/>
              </a:defRPr>
            </a:pPr>
            <a:r>
              <a:rPr/>
              <a:t>IBM CLOUD SERVICES USED</a:t>
            </a:r>
            <a:endParaRPr/>
          </a:p>
        </p:txBody>
      </p:sp>
      <p:sp>
        <p:nvSpPr>
          <p:cNvPr id="2128026696" name="TextBox 5"/>
          <p:cNvSpPr txBox="1"/>
          <p:nvPr/>
        </p:nvSpPr>
        <p:spPr bwMode="auto">
          <a:xfrm>
            <a:off x="749808" y="1417320"/>
            <a:ext cx="10789920" cy="4846320"/>
          </a:xfrm>
          <a:prstGeom prst="rect">
            <a:avLst/>
          </a:prstGeom>
          <a:noFill/>
        </p:spPr>
        <p:txBody>
          <a:bodyPr wrap="square" lIns="45720" rIns="45720">
            <a:spAutoFit/>
          </a:bodyPr>
          <a:lstStyle/>
          <a:p>
            <a:pPr>
              <a:spcAft>
                <a:spcPts val="1200"/>
              </a:spcAft>
              <a:defRPr sz="2100">
                <a:solidFill>
                  <a:srgbClr val="283036"/>
                </a:solidFill>
                <a:latin typeface="Aptos"/>
              </a:defRPr>
            </a:pPr>
            <a:r>
              <a:rPr/>
              <a:t>▪  IBM Cloud watsonx.ai Studio</a:t>
            </a:r>
            <a:endParaRPr/>
          </a:p>
          <a:p>
            <a:pPr>
              <a:spcAft>
                <a:spcPts val="1200"/>
              </a:spcAft>
              <a:defRPr sz="2100">
                <a:solidFill>
                  <a:srgbClr val="283036"/>
                </a:solidFill>
                <a:latin typeface="Aptos"/>
              </a:defRPr>
            </a:pPr>
            <a:r>
              <a:rPr/>
              <a:t>▪  IBM Cloud watsonx.ai Runtime</a:t>
            </a:r>
            <a:endParaRPr/>
          </a:p>
          <a:p>
            <a:pPr>
              <a:spcAft>
                <a:spcPts val="1200"/>
              </a:spcAft>
              <a:defRPr sz="2100">
                <a:solidFill>
                  <a:srgbClr val="283036"/>
                </a:solidFill>
                <a:latin typeface="Aptos"/>
              </a:defRPr>
            </a:pPr>
            <a:r>
              <a:rPr/>
              <a:t>▪  IBM Granite Foundation Model</a:t>
            </a:r>
            <a:endParaRPr/>
          </a:p>
          <a:p>
            <a:pPr>
              <a:spcAft>
                <a:spcPts val="1200"/>
              </a:spcAft>
              <a:defRPr sz="2100">
                <a:solidFill>
                  <a:srgbClr val="283036"/>
                </a:solidFill>
                <a:latin typeface="Aptos"/>
              </a:defRPr>
            </a:pPr>
            <a:r>
              <a:rPr/>
              <a:t>▪  IBM Cloud Object Storage</a:t>
            </a:r>
            <a:endParaRPr/>
          </a:p>
          <a:p>
            <a:pPr>
              <a:spcAft>
                <a:spcPts val="1200"/>
              </a:spcAft>
              <a:defRPr sz="2100">
                <a:solidFill>
                  <a:srgbClr val="283036"/>
                </a:solidFill>
                <a:latin typeface="Aptos"/>
              </a:defRPr>
            </a:pPr>
            <a:r>
              <a:rPr/>
              <a:t>▪  IBM Cloud IAM (Identity and Access Management)</a:t>
            </a:r>
            <a:endParaRPr/>
          </a:p>
          <a:p>
            <a:pPr>
              <a:spcAft>
                <a:spcPts val="1200"/>
              </a:spcAft>
              <a:defRPr sz="2100">
                <a:solidFill>
                  <a:srgbClr val="283036"/>
                </a:solidFill>
                <a:latin typeface="Aptos"/>
              </a:defRPr>
            </a:pPr>
            <a:r>
              <a:rPr/>
              <a:t>▪  IBM Watson Discovery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062823973" name="Rectangle 1"/>
          <p:cNvSpPr/>
          <p:nvPr/>
        </p:nvSpPr>
        <p:spPr bwMode="auto">
          <a:xfrm>
            <a:off x="438912" y="256032"/>
            <a:ext cx="3703320" cy="91440"/>
          </a:xfrm>
          <a:prstGeom prst="rect">
            <a:avLst/>
          </a:prstGeom>
          <a:solidFill>
            <a:srgbClr val="435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34837055" name="Rectangle 2"/>
          <p:cNvSpPr/>
          <p:nvPr/>
        </p:nvSpPr>
        <p:spPr bwMode="auto">
          <a:xfrm>
            <a:off x="4224528" y="256032"/>
            <a:ext cx="3703320" cy="91440"/>
          </a:xfrm>
          <a:prstGeom prst="rect">
            <a:avLst/>
          </a:prstGeom>
          <a:solidFill>
            <a:srgbClr val="20A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51507981" name="Rectangle 3"/>
          <p:cNvSpPr/>
          <p:nvPr/>
        </p:nvSpPr>
        <p:spPr bwMode="auto">
          <a:xfrm>
            <a:off x="8010144" y="256032"/>
            <a:ext cx="3703320" cy="91440"/>
          </a:xfrm>
          <a:prstGeom prst="rect">
            <a:avLst/>
          </a:prstGeom>
          <a:solidFill>
            <a:srgbClr val="97A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40201127" name="TextBox 4"/>
          <p:cNvSpPr txBox="1"/>
          <p:nvPr/>
        </p:nvSpPr>
        <p:spPr bwMode="auto">
          <a:xfrm>
            <a:off x="658368" y="566928"/>
            <a:ext cx="10881360" cy="594360"/>
          </a:xfrm>
          <a:prstGeom prst="rect">
            <a:avLst/>
          </a:prstGeom>
          <a:noFill/>
        </p:spPr>
        <p:txBody>
          <a:bodyPr wrap="square" lIns="27432" tIns="18288" rIns="27432" bIns="18288">
            <a:spAutoFit/>
          </a:bodyPr>
          <a:lstStyle/>
          <a:p>
            <a:pPr algn="l">
              <a:spcAft>
                <a:spcPts val="700"/>
              </a:spcAft>
              <a:defRPr sz="2700" b="0">
                <a:solidFill>
                  <a:srgbClr val="20A9D3"/>
                </a:solidFill>
                <a:latin typeface="Aptos"/>
              </a:defRPr>
            </a:pPr>
            <a:r>
              <a:rPr/>
              <a:t>WOW FACTORS</a:t>
            </a:r>
            <a:endParaRPr/>
          </a:p>
        </p:txBody>
      </p:sp>
      <p:sp>
        <p:nvSpPr>
          <p:cNvPr id="403536507" name="TextBox 5"/>
          <p:cNvSpPr txBox="1"/>
          <p:nvPr/>
        </p:nvSpPr>
        <p:spPr bwMode="auto">
          <a:xfrm>
            <a:off x="749808" y="1417320"/>
            <a:ext cx="10789920" cy="4846320"/>
          </a:xfrm>
          <a:prstGeom prst="rect">
            <a:avLst/>
          </a:prstGeom>
          <a:noFill/>
        </p:spPr>
        <p:txBody>
          <a:bodyPr wrap="square" lIns="45720" rIns="45720">
            <a:spAutoFit/>
          </a:bodyPr>
          <a:lstStyle/>
          <a:p>
            <a:pPr>
              <a:spcAft>
                <a:spcPts val="1200"/>
              </a:spcAft>
              <a:defRPr sz="1700">
                <a:solidFill>
                  <a:srgbClr val="283036"/>
                </a:solidFill>
                <a:latin typeface="Aptos"/>
              </a:defRPr>
            </a:pPr>
            <a:r>
              <a:rPr/>
              <a:t>▪  Empowers users with accessible and personalized financial knowledge</a:t>
            </a:r>
            <a:endParaRPr/>
          </a:p>
          <a:p>
            <a:pPr>
              <a:spcAft>
                <a:spcPts val="1200"/>
              </a:spcAft>
              <a:defRPr sz="1700">
                <a:solidFill>
                  <a:srgbClr val="283036"/>
                </a:solidFill>
                <a:latin typeface="Aptos"/>
              </a:defRPr>
            </a:pPr>
            <a:r>
              <a:rPr/>
              <a:t>▪  Supports better financial decisions and trust in digital financial systems</a:t>
            </a:r>
            <a:endParaRPr/>
          </a:p>
          <a:p>
            <a:pPr>
              <a:spcAft>
                <a:spcPts val="1200"/>
              </a:spcAft>
              <a:defRPr sz="1700">
                <a:solidFill>
                  <a:srgbClr val="283036"/>
                </a:solidFill>
                <a:latin typeface="Aptos"/>
              </a:defRPr>
            </a:pPr>
            <a:r>
              <a:rPr/>
              <a:t>▪  Retrieval-based answers from trusted sources such as RBI and NPCI</a:t>
            </a:r>
            <a:endParaRPr/>
          </a:p>
          <a:p>
            <a:pPr>
              <a:spcAft>
                <a:spcPts val="1200"/>
              </a:spcAft>
              <a:defRPr sz="1700">
                <a:solidFill>
                  <a:srgbClr val="283036"/>
                </a:solidFill>
                <a:latin typeface="Aptos"/>
              </a:defRPr>
            </a:pPr>
            <a:r>
              <a:rPr/>
              <a:t>▪  NLP for understanding diverse user questions</a:t>
            </a:r>
            <a:endParaRPr/>
          </a:p>
          <a:p>
            <a:pPr>
              <a:spcAft>
                <a:spcPts val="1200"/>
              </a:spcAft>
              <a:defRPr sz="1700">
                <a:solidFill>
                  <a:srgbClr val="283036"/>
                </a:solidFill>
                <a:latin typeface="Aptos"/>
              </a:defRPr>
            </a:pPr>
            <a:r>
              <a:rPr/>
              <a:t>▪  Document-based responses using IBM Watson Discovery for retrieval (RAG)</a:t>
            </a:r>
            <a:endParaRPr/>
          </a:p>
          <a:p>
            <a:pPr>
              <a:spcAft>
                <a:spcPts val="1200"/>
              </a:spcAft>
              <a:defRPr sz="1700">
                <a:solidFill>
                  <a:srgbClr val="283036"/>
                </a:solidFill>
                <a:latin typeface="Aptos"/>
              </a:defRPr>
            </a:pPr>
            <a:r>
              <a:rPr/>
              <a:t>▪  Safe handling of unrelated questions; multilingual interaction</a:t>
            </a:r>
            <a:endParaRPr/>
          </a:p>
          <a:p>
            <a:pPr>
              <a:spcAft>
                <a:spcPts val="1200"/>
              </a:spcAft>
              <a:defRPr sz="1700">
                <a:solidFill>
                  <a:srgbClr val="283036"/>
                </a:solidFill>
                <a:latin typeface="Aptos"/>
              </a:defRPr>
            </a:pPr>
            <a:r>
              <a:rPr/>
              <a:t>▪  Covers UPI, online scams, loans, budgeting, and savings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61686745" name="Rectangle 1"/>
          <p:cNvSpPr/>
          <p:nvPr/>
        </p:nvSpPr>
        <p:spPr bwMode="auto">
          <a:xfrm>
            <a:off x="438912" y="256032"/>
            <a:ext cx="3703320" cy="91440"/>
          </a:xfrm>
          <a:prstGeom prst="rect">
            <a:avLst/>
          </a:prstGeom>
          <a:solidFill>
            <a:srgbClr val="435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27721011" name="Rectangle 2"/>
          <p:cNvSpPr/>
          <p:nvPr/>
        </p:nvSpPr>
        <p:spPr bwMode="auto">
          <a:xfrm>
            <a:off x="4224528" y="256032"/>
            <a:ext cx="3703320" cy="91440"/>
          </a:xfrm>
          <a:prstGeom prst="rect">
            <a:avLst/>
          </a:prstGeom>
          <a:solidFill>
            <a:srgbClr val="20A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63507176" name="Rectangle 3"/>
          <p:cNvSpPr/>
          <p:nvPr/>
        </p:nvSpPr>
        <p:spPr bwMode="auto">
          <a:xfrm>
            <a:off x="8010144" y="256032"/>
            <a:ext cx="3703320" cy="91440"/>
          </a:xfrm>
          <a:prstGeom prst="rect">
            <a:avLst/>
          </a:prstGeom>
          <a:solidFill>
            <a:srgbClr val="97A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64010100" name="TextBox 4"/>
          <p:cNvSpPr txBox="1"/>
          <p:nvPr/>
        </p:nvSpPr>
        <p:spPr bwMode="auto">
          <a:xfrm>
            <a:off x="658368" y="566928"/>
            <a:ext cx="10881360" cy="594360"/>
          </a:xfrm>
          <a:prstGeom prst="rect">
            <a:avLst/>
          </a:prstGeom>
          <a:noFill/>
        </p:spPr>
        <p:txBody>
          <a:bodyPr wrap="square" lIns="27432" tIns="18288" rIns="27432" bIns="18288">
            <a:spAutoFit/>
          </a:bodyPr>
          <a:lstStyle/>
          <a:p>
            <a:pPr algn="l">
              <a:spcAft>
                <a:spcPts val="700"/>
              </a:spcAft>
              <a:defRPr sz="2700" b="0">
                <a:solidFill>
                  <a:srgbClr val="20A9D3"/>
                </a:solidFill>
                <a:latin typeface="Aptos"/>
              </a:defRPr>
            </a:pPr>
            <a:r>
              <a:rPr/>
              <a:t>END USERS</a:t>
            </a:r>
            <a:endParaRPr/>
          </a:p>
        </p:txBody>
      </p:sp>
      <p:sp>
        <p:nvSpPr>
          <p:cNvPr id="222631797" name="TextBox 5"/>
          <p:cNvSpPr txBox="1"/>
          <p:nvPr/>
        </p:nvSpPr>
        <p:spPr bwMode="auto">
          <a:xfrm>
            <a:off x="749808" y="1417320"/>
            <a:ext cx="10789920" cy="4846320"/>
          </a:xfrm>
          <a:prstGeom prst="rect">
            <a:avLst/>
          </a:prstGeom>
          <a:noFill/>
        </p:spPr>
        <p:txBody>
          <a:bodyPr wrap="square" lIns="45720" rIns="45720">
            <a:spAutoFit/>
          </a:bodyPr>
          <a:lstStyle/>
          <a:p>
            <a:pPr>
              <a:spcAft>
                <a:spcPts val="1200"/>
              </a:spcAft>
              <a:defRPr sz="2100">
                <a:solidFill>
                  <a:srgbClr val="283036"/>
                </a:solidFill>
                <a:latin typeface="Aptos"/>
              </a:defRPr>
            </a:pPr>
            <a:r>
              <a:rPr/>
              <a:t>▪  General public and first-time digital users</a:t>
            </a:r>
            <a:endParaRPr/>
          </a:p>
          <a:p>
            <a:pPr>
              <a:spcAft>
                <a:spcPts val="1200"/>
              </a:spcAft>
              <a:defRPr sz="2100">
                <a:solidFill>
                  <a:srgbClr val="283036"/>
                </a:solidFill>
                <a:latin typeface="Aptos"/>
              </a:defRPr>
            </a:pPr>
            <a:r>
              <a:rPr/>
              <a:t>▪  Elderly citizens</a:t>
            </a:r>
            <a:endParaRPr/>
          </a:p>
          <a:p>
            <a:pPr>
              <a:spcAft>
                <a:spcPts val="1200"/>
              </a:spcAft>
              <a:defRPr sz="2100">
                <a:solidFill>
                  <a:srgbClr val="283036"/>
                </a:solidFill>
                <a:latin typeface="Aptos"/>
              </a:defRPr>
            </a:pPr>
            <a:r>
              <a:rPr/>
              <a:t>▪  Students and young adults</a:t>
            </a:r>
            <a:endParaRPr/>
          </a:p>
          <a:p>
            <a:pPr>
              <a:spcAft>
                <a:spcPts val="1200"/>
              </a:spcAft>
              <a:defRPr sz="2100">
                <a:solidFill>
                  <a:srgbClr val="283036"/>
                </a:solidFill>
                <a:latin typeface="Aptos"/>
              </a:defRPr>
            </a:pPr>
            <a:r>
              <a:rPr/>
              <a:t>▪  NGOs and government outreach programs</a:t>
            </a:r>
            <a:endParaRPr/>
          </a:p>
          <a:p>
            <a:pPr>
              <a:spcAft>
                <a:spcPts val="1200"/>
              </a:spcAft>
              <a:defRPr sz="2100">
                <a:solidFill>
                  <a:srgbClr val="283036"/>
                </a:solidFill>
                <a:latin typeface="Aptos"/>
              </a:defRPr>
            </a:pPr>
            <a:r>
              <a:rPr/>
              <a:t>▪  Self-help groups / women’s collectives</a:t>
            </a:r>
            <a:endParaRPr/>
          </a:p>
          <a:p>
            <a:pPr>
              <a:spcAft>
                <a:spcPts val="1200"/>
              </a:spcAft>
              <a:defRPr sz="2100">
                <a:solidFill>
                  <a:srgbClr val="283036"/>
                </a:solidFill>
                <a:latin typeface="Aptos"/>
              </a:defRPr>
            </a:pPr>
            <a:r>
              <a:rPr/>
              <a:t>▪  Educators and institutions</a:t>
            </a:r>
            <a:endParaRPr/>
          </a:p>
          <a:p>
            <a:pPr>
              <a:spcAft>
                <a:spcPts val="1200"/>
              </a:spcAft>
              <a:defRPr sz="2100">
                <a:solidFill>
                  <a:srgbClr val="283036"/>
                </a:solidFill>
                <a:latin typeface="Aptos"/>
              </a:defRPr>
            </a:pPr>
            <a:r>
              <a:rPr/>
              <a:t>▪  Microfinance beneficiaries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886759051" name="Rectangle 1"/>
          <p:cNvSpPr/>
          <p:nvPr/>
        </p:nvSpPr>
        <p:spPr bwMode="auto">
          <a:xfrm>
            <a:off x="438912" y="256032"/>
            <a:ext cx="3703320" cy="91440"/>
          </a:xfrm>
          <a:prstGeom prst="rect">
            <a:avLst/>
          </a:prstGeom>
          <a:solidFill>
            <a:srgbClr val="435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93379862" name="Rectangle 2"/>
          <p:cNvSpPr/>
          <p:nvPr/>
        </p:nvSpPr>
        <p:spPr bwMode="auto">
          <a:xfrm>
            <a:off x="4224528" y="256032"/>
            <a:ext cx="3703320" cy="91440"/>
          </a:xfrm>
          <a:prstGeom prst="rect">
            <a:avLst/>
          </a:prstGeom>
          <a:solidFill>
            <a:srgbClr val="20A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23353062" name="Rectangle 3"/>
          <p:cNvSpPr/>
          <p:nvPr/>
        </p:nvSpPr>
        <p:spPr bwMode="auto">
          <a:xfrm>
            <a:off x="8010144" y="256032"/>
            <a:ext cx="3703320" cy="91440"/>
          </a:xfrm>
          <a:prstGeom prst="rect">
            <a:avLst/>
          </a:prstGeom>
          <a:solidFill>
            <a:srgbClr val="97A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38567112" name="TextBox 4"/>
          <p:cNvSpPr txBox="1"/>
          <p:nvPr/>
        </p:nvSpPr>
        <p:spPr bwMode="auto">
          <a:xfrm>
            <a:off x="658368" y="566928"/>
            <a:ext cx="10881360" cy="594360"/>
          </a:xfrm>
          <a:prstGeom prst="rect">
            <a:avLst/>
          </a:prstGeom>
          <a:noFill/>
        </p:spPr>
        <p:txBody>
          <a:bodyPr wrap="square" lIns="27432" tIns="18288" rIns="27432" bIns="18288">
            <a:spAutoFit/>
          </a:bodyPr>
          <a:lstStyle/>
          <a:p>
            <a:pPr algn="l">
              <a:spcAft>
                <a:spcPts val="700"/>
              </a:spcAft>
              <a:defRPr sz="2700" b="0">
                <a:solidFill>
                  <a:srgbClr val="20A9D3"/>
                </a:solidFill>
                <a:latin typeface="Aptos"/>
              </a:defRPr>
            </a:pPr>
            <a:r>
              <a:rPr/>
              <a:t>RESULTS: SETTING UP</a:t>
            </a:r>
            <a:endParaRPr/>
          </a:p>
        </p:txBody>
      </p:sp>
      <p:pic>
        <p:nvPicPr>
          <p:cNvPr id="930734735" name="Picture 5" descr="_ref_page_8.png"/>
          <p:cNvPicPr>
            <a:picLocks noChangeAspect="1"/>
          </p:cNvPicPr>
          <p:nvPr/>
        </p:nvPicPr>
        <p:blipFill rotWithShape="1">
          <a:blip r:embed="rId3"/>
          <a:srcRect l="491" t="23851" r="-491" b="-23851"/>
          <a:stretch/>
        </p:blipFill>
        <p:spPr bwMode="auto">
          <a:xfrm flipH="0" flipV="0">
            <a:off x="557783" y="2246461"/>
            <a:ext cx="11155680" cy="55756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904605738" name="Rectangle 1"/>
          <p:cNvSpPr/>
          <p:nvPr/>
        </p:nvSpPr>
        <p:spPr bwMode="auto">
          <a:xfrm>
            <a:off x="438912" y="256032"/>
            <a:ext cx="3703320" cy="91440"/>
          </a:xfrm>
          <a:prstGeom prst="rect">
            <a:avLst/>
          </a:prstGeom>
          <a:solidFill>
            <a:srgbClr val="435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11643752" name="Rectangle 2"/>
          <p:cNvSpPr/>
          <p:nvPr/>
        </p:nvSpPr>
        <p:spPr bwMode="auto">
          <a:xfrm>
            <a:off x="4224528" y="256032"/>
            <a:ext cx="3703320" cy="91440"/>
          </a:xfrm>
          <a:prstGeom prst="rect">
            <a:avLst/>
          </a:prstGeom>
          <a:solidFill>
            <a:srgbClr val="20A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1530490" name="Rectangle 3"/>
          <p:cNvSpPr/>
          <p:nvPr/>
        </p:nvSpPr>
        <p:spPr bwMode="auto">
          <a:xfrm>
            <a:off x="8010144" y="256032"/>
            <a:ext cx="3703320" cy="91440"/>
          </a:xfrm>
          <a:prstGeom prst="rect">
            <a:avLst/>
          </a:prstGeom>
          <a:solidFill>
            <a:srgbClr val="97A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72344397" name="TextBox 4"/>
          <p:cNvSpPr txBox="1"/>
          <p:nvPr/>
        </p:nvSpPr>
        <p:spPr bwMode="auto">
          <a:xfrm>
            <a:off x="658368" y="566928"/>
            <a:ext cx="10881360" cy="594360"/>
          </a:xfrm>
          <a:prstGeom prst="rect">
            <a:avLst/>
          </a:prstGeom>
          <a:noFill/>
        </p:spPr>
        <p:txBody>
          <a:bodyPr wrap="square" lIns="27432" tIns="18288" rIns="27432" bIns="18288">
            <a:spAutoFit/>
          </a:bodyPr>
          <a:lstStyle/>
          <a:p>
            <a:pPr algn="l">
              <a:spcAft>
                <a:spcPts val="700"/>
              </a:spcAft>
              <a:defRPr sz="2700" b="0">
                <a:solidFill>
                  <a:srgbClr val="20A9D3"/>
                </a:solidFill>
                <a:latin typeface="Aptos"/>
              </a:defRPr>
            </a:pPr>
            <a:r>
              <a:rPr/>
              <a:t>RESULTS: AGENT PREVIEW</a:t>
            </a:r>
            <a:endParaRPr/>
          </a:p>
        </p:txBody>
      </p:sp>
      <p:pic>
        <p:nvPicPr>
          <p:cNvPr id="407313508" name="Picture 5" descr="_ref_page_9.png"/>
          <p:cNvPicPr>
            <a:picLocks noChangeAspect="1"/>
          </p:cNvPicPr>
          <p:nvPr/>
        </p:nvPicPr>
        <p:blipFill rotWithShape="1">
          <a:blip r:embed="rId3"/>
          <a:srcRect l="0" t="24880" r="0" b="0"/>
          <a:stretch/>
        </p:blipFill>
        <p:spPr bwMode="auto">
          <a:xfrm flipH="0" flipV="0">
            <a:off x="502920" y="1473679"/>
            <a:ext cx="11737300" cy="422780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58335666" name="Rectangle 1"/>
          <p:cNvSpPr/>
          <p:nvPr/>
        </p:nvSpPr>
        <p:spPr bwMode="auto">
          <a:xfrm>
            <a:off x="438912" y="256032"/>
            <a:ext cx="3703320" cy="91440"/>
          </a:xfrm>
          <a:prstGeom prst="rect">
            <a:avLst/>
          </a:prstGeom>
          <a:solidFill>
            <a:srgbClr val="435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97106526" name="Rectangle 2"/>
          <p:cNvSpPr/>
          <p:nvPr/>
        </p:nvSpPr>
        <p:spPr bwMode="auto">
          <a:xfrm>
            <a:off x="4224528" y="256032"/>
            <a:ext cx="3703320" cy="91440"/>
          </a:xfrm>
          <a:prstGeom prst="rect">
            <a:avLst/>
          </a:prstGeom>
          <a:solidFill>
            <a:srgbClr val="20A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63300424" name="Rectangle 3"/>
          <p:cNvSpPr/>
          <p:nvPr/>
        </p:nvSpPr>
        <p:spPr bwMode="auto">
          <a:xfrm>
            <a:off x="8010144" y="256032"/>
            <a:ext cx="3703320" cy="91440"/>
          </a:xfrm>
          <a:prstGeom prst="rect">
            <a:avLst/>
          </a:prstGeom>
          <a:solidFill>
            <a:srgbClr val="97A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8844652" name="TextBox 4"/>
          <p:cNvSpPr txBox="1"/>
          <p:nvPr/>
        </p:nvSpPr>
        <p:spPr bwMode="auto">
          <a:xfrm>
            <a:off x="658368" y="566928"/>
            <a:ext cx="10881360" cy="594360"/>
          </a:xfrm>
          <a:prstGeom prst="rect">
            <a:avLst/>
          </a:prstGeom>
          <a:noFill/>
        </p:spPr>
        <p:txBody>
          <a:bodyPr wrap="square" lIns="27432" tIns="18288" rIns="27432" bIns="18288">
            <a:spAutoFit/>
          </a:bodyPr>
          <a:lstStyle/>
          <a:p>
            <a:pPr algn="l">
              <a:spcAft>
                <a:spcPts val="700"/>
              </a:spcAft>
              <a:defRPr sz="2700" b="0">
                <a:solidFill>
                  <a:srgbClr val="20A9D3"/>
                </a:solidFill>
                <a:latin typeface="Aptos"/>
              </a:defRPr>
            </a:pPr>
            <a:r>
              <a:rPr/>
              <a:t>RESULTS: TOOLS USED</a:t>
            </a:r>
            <a:endParaRPr/>
          </a:p>
        </p:txBody>
      </p:sp>
      <p:pic>
        <p:nvPicPr>
          <p:cNvPr id="468770922" name="Picture 5" descr="_ref_page_10.png"/>
          <p:cNvPicPr>
            <a:picLocks noChangeAspect="1"/>
          </p:cNvPicPr>
          <p:nvPr/>
        </p:nvPicPr>
        <p:blipFill rotWithShape="1">
          <a:blip r:embed="rId3"/>
          <a:srcRect l="491" t="24189" r="-491" b="-24189"/>
          <a:stretch/>
        </p:blipFill>
        <p:spPr bwMode="auto">
          <a:xfrm>
            <a:off x="557783" y="2436962"/>
            <a:ext cx="11155680" cy="53492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604690656" name="Rectangle 1"/>
          <p:cNvSpPr/>
          <p:nvPr/>
        </p:nvSpPr>
        <p:spPr bwMode="auto">
          <a:xfrm>
            <a:off x="438912" y="256032"/>
            <a:ext cx="3703320" cy="91440"/>
          </a:xfrm>
          <a:prstGeom prst="rect">
            <a:avLst/>
          </a:prstGeom>
          <a:solidFill>
            <a:srgbClr val="435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22926759" name="Rectangle 2"/>
          <p:cNvSpPr/>
          <p:nvPr/>
        </p:nvSpPr>
        <p:spPr bwMode="auto">
          <a:xfrm>
            <a:off x="4224528" y="256032"/>
            <a:ext cx="3703320" cy="91440"/>
          </a:xfrm>
          <a:prstGeom prst="rect">
            <a:avLst/>
          </a:prstGeom>
          <a:solidFill>
            <a:srgbClr val="20A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84025288" name="Rectangle 3"/>
          <p:cNvSpPr/>
          <p:nvPr/>
        </p:nvSpPr>
        <p:spPr bwMode="auto">
          <a:xfrm>
            <a:off x="8010144" y="256032"/>
            <a:ext cx="3703320" cy="91440"/>
          </a:xfrm>
          <a:prstGeom prst="rect">
            <a:avLst/>
          </a:prstGeom>
          <a:solidFill>
            <a:srgbClr val="97A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8003651" name="TextBox 4"/>
          <p:cNvSpPr txBox="1"/>
          <p:nvPr/>
        </p:nvSpPr>
        <p:spPr bwMode="auto">
          <a:xfrm>
            <a:off x="658368" y="566928"/>
            <a:ext cx="10881360" cy="594360"/>
          </a:xfrm>
          <a:prstGeom prst="rect">
            <a:avLst/>
          </a:prstGeom>
          <a:noFill/>
        </p:spPr>
        <p:txBody>
          <a:bodyPr wrap="square" lIns="27432" tIns="18288" rIns="27432" bIns="18288">
            <a:spAutoFit/>
          </a:bodyPr>
          <a:lstStyle/>
          <a:p>
            <a:pPr algn="l">
              <a:spcAft>
                <a:spcPts val="700"/>
              </a:spcAft>
              <a:defRPr sz="2700" b="0">
                <a:solidFill>
                  <a:srgbClr val="20A9D3"/>
                </a:solidFill>
                <a:latin typeface="Aptos"/>
              </a:defRPr>
            </a:pPr>
            <a:r>
              <a:rPr/>
              <a:t>RESULTS: DEPLOYED AI AGENT</a:t>
            </a:r>
            <a:endParaRPr/>
          </a:p>
        </p:txBody>
      </p:sp>
      <p:pic>
        <p:nvPicPr>
          <p:cNvPr id="237665819" name="Picture 5" descr="_ref_page_11.png"/>
          <p:cNvPicPr>
            <a:picLocks noChangeAspect="1"/>
          </p:cNvPicPr>
          <p:nvPr/>
        </p:nvPicPr>
        <p:blipFill rotWithShape="1">
          <a:blip r:embed="rId3"/>
          <a:srcRect l="0" t="26339" r="0" b="0"/>
          <a:stretch/>
        </p:blipFill>
        <p:spPr bwMode="auto">
          <a:xfrm flipH="0" flipV="0">
            <a:off x="502920" y="1653396"/>
            <a:ext cx="11155680" cy="394025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202006590" name="Rectangle 1"/>
          <p:cNvSpPr/>
          <p:nvPr/>
        </p:nvSpPr>
        <p:spPr bwMode="auto">
          <a:xfrm>
            <a:off x="438912" y="256032"/>
            <a:ext cx="3703320" cy="91440"/>
          </a:xfrm>
          <a:prstGeom prst="rect">
            <a:avLst/>
          </a:prstGeom>
          <a:solidFill>
            <a:srgbClr val="435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96712870" name="Rectangle 2"/>
          <p:cNvSpPr/>
          <p:nvPr/>
        </p:nvSpPr>
        <p:spPr bwMode="auto">
          <a:xfrm>
            <a:off x="4224528" y="256032"/>
            <a:ext cx="3703320" cy="91440"/>
          </a:xfrm>
          <a:prstGeom prst="rect">
            <a:avLst/>
          </a:prstGeom>
          <a:solidFill>
            <a:srgbClr val="20A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15363221" name="Rectangle 3"/>
          <p:cNvSpPr/>
          <p:nvPr/>
        </p:nvSpPr>
        <p:spPr bwMode="auto">
          <a:xfrm>
            <a:off x="8010144" y="256032"/>
            <a:ext cx="3703320" cy="91440"/>
          </a:xfrm>
          <a:prstGeom prst="rect">
            <a:avLst/>
          </a:prstGeom>
          <a:solidFill>
            <a:srgbClr val="97A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81669013" name="TextBox 4"/>
          <p:cNvSpPr txBox="1"/>
          <p:nvPr/>
        </p:nvSpPr>
        <p:spPr bwMode="auto">
          <a:xfrm>
            <a:off x="658368" y="566928"/>
            <a:ext cx="10881360" cy="594360"/>
          </a:xfrm>
          <a:prstGeom prst="rect">
            <a:avLst/>
          </a:prstGeom>
          <a:noFill/>
        </p:spPr>
        <p:txBody>
          <a:bodyPr wrap="square" lIns="27432" tIns="18288" rIns="27432" bIns="18288">
            <a:spAutoFit/>
          </a:bodyPr>
          <a:lstStyle/>
          <a:p>
            <a:pPr algn="l">
              <a:spcAft>
                <a:spcPts val="700"/>
              </a:spcAft>
              <a:defRPr sz="2700" b="0">
                <a:solidFill>
                  <a:srgbClr val="20A9D3"/>
                </a:solidFill>
                <a:latin typeface="Aptos"/>
              </a:defRPr>
            </a:pPr>
            <a:r>
              <a:rPr/>
              <a:t>CONCLUSION</a:t>
            </a:r>
            <a:endParaRPr/>
          </a:p>
        </p:txBody>
      </p:sp>
      <p:sp>
        <p:nvSpPr>
          <p:cNvPr id="1914370470" name="TextBox 5"/>
          <p:cNvSpPr txBox="1"/>
          <p:nvPr/>
        </p:nvSpPr>
        <p:spPr bwMode="auto">
          <a:xfrm>
            <a:off x="749808" y="1417320"/>
            <a:ext cx="10789920" cy="4846320"/>
          </a:xfrm>
          <a:prstGeom prst="rect">
            <a:avLst/>
          </a:prstGeom>
          <a:noFill/>
        </p:spPr>
        <p:txBody>
          <a:bodyPr wrap="square" lIns="45720" rIns="45720">
            <a:spAutoFit/>
          </a:bodyPr>
          <a:lstStyle/>
          <a:p>
            <a:pPr>
              <a:spcAft>
                <a:spcPts val="1200"/>
              </a:spcAft>
              <a:defRPr sz="2000">
                <a:solidFill>
                  <a:srgbClr val="283036"/>
                </a:solidFill>
                <a:latin typeface="Aptos"/>
              </a:defRPr>
            </a:pPr>
            <a:r>
              <a:rPr/>
              <a:t>▪  Uses IBM watsonx.ai and RAG to provide accessible, context-aware financial guidance</a:t>
            </a:r>
            <a:endParaRPr/>
          </a:p>
          <a:p>
            <a:pPr>
              <a:spcAft>
                <a:spcPts val="1200"/>
              </a:spcAft>
              <a:defRPr sz="2000">
                <a:solidFill>
                  <a:srgbClr val="283036"/>
                </a:solidFill>
                <a:latin typeface="Aptos"/>
              </a:defRPr>
            </a:pPr>
            <a:r>
              <a:rPr/>
              <a:t>▪  Addresses UPI safety, loan awareness, budgeting, and scam prevention</a:t>
            </a:r>
            <a:endParaRPr/>
          </a:p>
          <a:p>
            <a:pPr>
              <a:spcAft>
                <a:spcPts val="1200"/>
              </a:spcAft>
              <a:defRPr sz="2000">
                <a:solidFill>
                  <a:srgbClr val="283036"/>
                </a:solidFill>
                <a:latin typeface="Aptos"/>
              </a:defRPr>
            </a:pPr>
            <a:r>
              <a:rPr/>
              <a:t>▪  Document-backed answers support inclusivity, trust, and reliability</a:t>
            </a:r>
            <a:endParaRPr/>
          </a:p>
          <a:p>
            <a:pPr>
              <a:spcAft>
                <a:spcPts val="1200"/>
              </a:spcAft>
              <a:defRPr sz="2000">
                <a:solidFill>
                  <a:srgbClr val="283036"/>
                </a:solidFill>
                <a:latin typeface="Aptos"/>
              </a:defRPr>
            </a:pPr>
            <a:r>
              <a:rPr/>
              <a:t>▪  Can help bridge the digital divide and promote financial well-being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66878908" name="Rectangle 1"/>
          <p:cNvSpPr/>
          <p:nvPr/>
        </p:nvSpPr>
        <p:spPr bwMode="auto">
          <a:xfrm>
            <a:off x="438912" y="256032"/>
            <a:ext cx="3703320" cy="91440"/>
          </a:xfrm>
          <a:prstGeom prst="rect">
            <a:avLst/>
          </a:prstGeom>
          <a:solidFill>
            <a:srgbClr val="435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16771173" name="Rectangle 2"/>
          <p:cNvSpPr/>
          <p:nvPr/>
        </p:nvSpPr>
        <p:spPr bwMode="auto">
          <a:xfrm>
            <a:off x="4224528" y="256032"/>
            <a:ext cx="3703320" cy="91440"/>
          </a:xfrm>
          <a:prstGeom prst="rect">
            <a:avLst/>
          </a:prstGeom>
          <a:solidFill>
            <a:srgbClr val="20A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11413881" name="Rectangle 3"/>
          <p:cNvSpPr/>
          <p:nvPr/>
        </p:nvSpPr>
        <p:spPr bwMode="auto">
          <a:xfrm>
            <a:off x="8010144" y="256032"/>
            <a:ext cx="3703320" cy="91440"/>
          </a:xfrm>
          <a:prstGeom prst="rect">
            <a:avLst/>
          </a:prstGeom>
          <a:solidFill>
            <a:srgbClr val="97A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73684511" name="TextBox 4"/>
          <p:cNvSpPr txBox="1"/>
          <p:nvPr/>
        </p:nvSpPr>
        <p:spPr bwMode="auto">
          <a:xfrm>
            <a:off x="658368" y="566928"/>
            <a:ext cx="10881360" cy="594360"/>
          </a:xfrm>
          <a:prstGeom prst="rect">
            <a:avLst/>
          </a:prstGeom>
          <a:noFill/>
        </p:spPr>
        <p:txBody>
          <a:bodyPr wrap="square" lIns="27432" tIns="18288" rIns="27432" bIns="18288">
            <a:spAutoFit/>
          </a:bodyPr>
          <a:lstStyle/>
          <a:p>
            <a:pPr algn="l">
              <a:spcAft>
                <a:spcPts val="700"/>
              </a:spcAft>
              <a:defRPr sz="2700" b="0">
                <a:solidFill>
                  <a:srgbClr val="20A9D3"/>
                </a:solidFill>
                <a:latin typeface="Aptos"/>
              </a:defRPr>
            </a:pPr>
            <a:r>
              <a:rPr/>
              <a:t>FUTURE SCOPE</a:t>
            </a:r>
            <a:endParaRPr/>
          </a:p>
        </p:txBody>
      </p:sp>
      <p:sp>
        <p:nvSpPr>
          <p:cNvPr id="382271334" name="TextBox 5"/>
          <p:cNvSpPr txBox="1"/>
          <p:nvPr/>
        </p:nvSpPr>
        <p:spPr bwMode="auto">
          <a:xfrm>
            <a:off x="749808" y="1417320"/>
            <a:ext cx="10789920" cy="4846320"/>
          </a:xfrm>
          <a:prstGeom prst="rect">
            <a:avLst/>
          </a:prstGeom>
          <a:noFill/>
        </p:spPr>
        <p:txBody>
          <a:bodyPr wrap="square" lIns="45720" rIns="45720">
            <a:spAutoFit/>
          </a:bodyPr>
          <a:lstStyle/>
          <a:p>
            <a:pPr>
              <a:spcAft>
                <a:spcPts val="1200"/>
              </a:spcAft>
              <a:defRPr sz="2000">
                <a:solidFill>
                  <a:srgbClr val="283036"/>
                </a:solidFill>
                <a:latin typeface="Aptos"/>
              </a:defRPr>
            </a:pPr>
            <a:r>
              <a:rPr/>
              <a:t>▪  Multilingual support for regional users</a:t>
            </a:r>
            <a:endParaRPr/>
          </a:p>
          <a:p>
            <a:pPr>
              <a:spcAft>
                <a:spcPts val="1200"/>
              </a:spcAft>
              <a:defRPr sz="2000">
                <a:solidFill>
                  <a:srgbClr val="283036"/>
                </a:solidFill>
                <a:latin typeface="Aptos"/>
              </a:defRPr>
            </a:pPr>
            <a:r>
              <a:rPr/>
              <a:t>▪  Voice-activated financial literacy assistant</a:t>
            </a:r>
            <a:endParaRPr/>
          </a:p>
          <a:p>
            <a:pPr>
              <a:spcAft>
                <a:spcPts val="1200"/>
              </a:spcAft>
              <a:defRPr sz="2000">
                <a:solidFill>
                  <a:srgbClr val="283036"/>
                </a:solidFill>
                <a:latin typeface="Aptos"/>
              </a:defRPr>
            </a:pPr>
            <a:r>
              <a:rPr/>
              <a:t>▪  Real-time collaboration and guided learning</a:t>
            </a:r>
            <a:endParaRPr/>
          </a:p>
          <a:p>
            <a:pPr>
              <a:spcAft>
                <a:spcPts val="1200"/>
              </a:spcAft>
              <a:defRPr sz="2000">
                <a:solidFill>
                  <a:srgbClr val="283036"/>
                </a:solidFill>
                <a:latin typeface="Aptos"/>
              </a:defRPr>
            </a:pPr>
            <a:r>
              <a:rPr/>
              <a:t>▪  Personalized budgeting and savings education</a:t>
            </a:r>
            <a:endParaRPr/>
          </a:p>
          <a:p>
            <a:pPr>
              <a:spcAft>
                <a:spcPts val="1200"/>
              </a:spcAft>
              <a:defRPr sz="2000">
                <a:solidFill>
                  <a:srgbClr val="283036"/>
                </a:solidFill>
                <a:latin typeface="Aptos"/>
              </a:defRPr>
            </a:pPr>
            <a:r>
              <a:rPr/>
              <a:t>▪  Integration with trusted financial and government resources</a:t>
            </a:r>
            <a:endParaRPr/>
          </a:p>
          <a:p>
            <a:pPr>
              <a:spcAft>
                <a:spcPts val="1200"/>
              </a:spcAft>
              <a:defRPr sz="2000">
                <a:solidFill>
                  <a:srgbClr val="283036"/>
                </a:solidFill>
                <a:latin typeface="Aptos"/>
              </a:defRPr>
            </a:pPr>
            <a:r>
              <a:rPr/>
              <a:t>▪  Expanded coverage of digital payments and fraud prevention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591710371" name="Rectangle 1"/>
          <p:cNvSpPr/>
          <p:nvPr/>
        </p:nvSpPr>
        <p:spPr bwMode="auto">
          <a:xfrm>
            <a:off x="438912" y="256032"/>
            <a:ext cx="3703320" cy="91440"/>
          </a:xfrm>
          <a:prstGeom prst="rect">
            <a:avLst/>
          </a:prstGeom>
          <a:solidFill>
            <a:srgbClr val="435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46982157" name="Rectangle 2"/>
          <p:cNvSpPr/>
          <p:nvPr/>
        </p:nvSpPr>
        <p:spPr bwMode="auto">
          <a:xfrm>
            <a:off x="4224528" y="256032"/>
            <a:ext cx="3703320" cy="91440"/>
          </a:xfrm>
          <a:prstGeom prst="rect">
            <a:avLst/>
          </a:prstGeom>
          <a:solidFill>
            <a:srgbClr val="20A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05365747" name="Rectangle 3"/>
          <p:cNvSpPr/>
          <p:nvPr/>
        </p:nvSpPr>
        <p:spPr bwMode="auto">
          <a:xfrm>
            <a:off x="8010144" y="256032"/>
            <a:ext cx="3703320" cy="91440"/>
          </a:xfrm>
          <a:prstGeom prst="rect">
            <a:avLst/>
          </a:prstGeom>
          <a:solidFill>
            <a:srgbClr val="97A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09316828" name="TextBox 4"/>
          <p:cNvSpPr txBox="1"/>
          <p:nvPr/>
        </p:nvSpPr>
        <p:spPr bwMode="auto">
          <a:xfrm>
            <a:off x="914400" y="2468880"/>
            <a:ext cx="10332720" cy="731520"/>
          </a:xfrm>
          <a:prstGeom prst="rect">
            <a:avLst/>
          </a:prstGeom>
          <a:noFill/>
        </p:spPr>
        <p:txBody>
          <a:bodyPr wrap="square" lIns="27432" tIns="18288" rIns="27432" bIns="18288">
            <a:spAutoFit/>
          </a:bodyPr>
          <a:lstStyle/>
          <a:p>
            <a:pPr algn="ctr">
              <a:spcAft>
                <a:spcPts val="700"/>
              </a:spcAft>
              <a:defRPr sz="3800" b="1">
                <a:solidFill>
                  <a:srgbClr val="20A9D3"/>
                </a:solidFill>
                <a:latin typeface="Aptos"/>
              </a:defRPr>
            </a:pPr>
            <a:r>
              <a:rPr/>
              <a:t>THANK YOU</a:t>
            </a:r>
            <a:endParaRPr/>
          </a:p>
        </p:txBody>
      </p:sp>
      <p:sp>
        <p:nvSpPr>
          <p:cNvPr id="1021432823" name="TextBox 5"/>
          <p:cNvSpPr txBox="1"/>
          <p:nvPr/>
        </p:nvSpPr>
        <p:spPr bwMode="auto">
          <a:xfrm>
            <a:off x="914400" y="3337560"/>
            <a:ext cx="10332720" cy="365760"/>
          </a:xfrm>
          <a:prstGeom prst="rect">
            <a:avLst/>
          </a:prstGeom>
          <a:noFill/>
        </p:spPr>
        <p:txBody>
          <a:bodyPr wrap="square" lIns="27432" tIns="18288" rIns="27432" bIns="18288">
            <a:spAutoFit/>
          </a:bodyPr>
          <a:lstStyle/>
          <a:p>
            <a:pPr algn="ctr">
              <a:spcAft>
                <a:spcPts val="700"/>
              </a:spcAft>
              <a:defRPr sz="1900" b="1">
                <a:solidFill>
                  <a:srgbClr val="435157"/>
                </a:solidFill>
                <a:latin typeface="Aptos"/>
              </a:defRPr>
            </a:pPr>
            <a:r>
              <a:rPr/>
              <a:t>Lingamsetti Dhana Pavitra</a:t>
            </a:r>
            <a:endParaRPr/>
          </a:p>
        </p:txBody>
      </p:sp>
      <p:sp>
        <p:nvSpPr>
          <p:cNvPr id="2094413677" name="TextBox 6"/>
          <p:cNvSpPr txBox="1"/>
          <p:nvPr/>
        </p:nvSpPr>
        <p:spPr bwMode="auto">
          <a:xfrm>
            <a:off x="914400" y="3794760"/>
            <a:ext cx="10332720" cy="365760"/>
          </a:xfrm>
          <a:prstGeom prst="rect">
            <a:avLst/>
          </a:prstGeom>
          <a:noFill/>
        </p:spPr>
        <p:txBody>
          <a:bodyPr wrap="square" lIns="27432" tIns="18288" rIns="27432" bIns="18288">
            <a:spAutoFit/>
          </a:bodyPr>
          <a:lstStyle/>
          <a:p>
            <a:pPr algn="ctr">
              <a:spcAft>
                <a:spcPts val="700"/>
              </a:spcAft>
              <a:defRPr sz="1600" b="0">
                <a:solidFill>
                  <a:srgbClr val="97A0A6"/>
                </a:solidFill>
                <a:latin typeface="Aptos"/>
              </a:defRPr>
            </a:pPr>
            <a:r>
              <a:rPr/>
              <a:t>ISTS Women’s Engineering College • M.Tech Artificial Intelligence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ONLYOFFICE/9.2.1.43</Application>
  <PresentationFormat>On-screen Show (4:3)</PresentationFormat>
  <Paragraphs>0</Paragraphs>
  <Slides>14</Slides>
  <Notes>14</Notes>
  <HiddenSlides>0</HiddenSlides>
  <MMClips>2</MMClips>
  <ScaleCrop>0</ScaleCrop>
  <HeadingPairs>
    <vt:vector size="4" baseType="variant">
      <vt:variant>
        <vt:lpstr>Theme</vt:lpstr>
      </vt:variant>
      <vt:variant>
        <vt:i4>1</vt:i4>
      </vt:variant>
      <vt:variant>
        <vt:lpstr>Slide Titles</vt:lpstr>
      </vt:variant>
      <vt:variant>
        <vt:i4>14</vt:i4>
      </vt:variant>
    </vt:vector>
  </HeadingPairs>
  <TitlesOfParts>
    <vt:vector size="1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2</cp:revision>
  <dcterms:created xsi:type="dcterms:W3CDTF">2013-01-27T09:14:16Z</dcterms:created>
  <dcterms:modified xsi:type="dcterms:W3CDTF">2026-10-13T09:01:48Z</dcterms:modified>
  <cp:category/>
</cp:coreProperties>
</file>